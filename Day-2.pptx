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60" r:id="rId4"/>
    <p:sldId id="261" r:id="rId5"/>
    <p:sldId id="262" r:id="rId6"/>
    <p:sldId id="263" r:id="rId7"/>
    <p:sldId id="264" r:id="rId8"/>
    <p:sldId id="265" r:id="rId9"/>
    <p:sldId id="266" r:id="rId10"/>
    <p:sldId id="267" r:id="rId11"/>
    <p:sldId id="259" r:id="rId12"/>
    <p:sldId id="268" r:id="rId13"/>
    <p:sldId id="276" r:id="rId14"/>
    <p:sldId id="258" r:id="rId15"/>
    <p:sldId id="269" r:id="rId16"/>
    <p:sldId id="270" r:id="rId17"/>
    <p:sldId id="271" r:id="rId18"/>
    <p:sldId id="272" r:id="rId19"/>
    <p:sldId id="27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033" autoAdjust="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99ED54-612A-4459-A11B-9BBE4DA1C831}" type="datetimeFigureOut">
              <a:rPr lang="en-IN" smtClean="0"/>
              <a:t>28-10-2026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2C6306-96FC-4FAE-AE5A-C234C0D39A81}" type="slidenum">
              <a:rPr lang="en-IN" smtClean="0"/>
              <a:t>‹#›</a:t>
            </a:fld>
            <a:endParaRPr lang="en-IN"/>
          </a:p>
        </p:txBody>
      </p:sp>
    </p:spTree>
    <p:extLst>
      <p:ext uri="{BB962C8B-B14F-4D97-AF65-F5344CB8AC3E}">
        <p14:creationId xmlns:p14="http://schemas.microsoft.com/office/powerpoint/2010/main" val="37426333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D741E-98C4-8613-A8E4-FC6272B3505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AEC406B-676A-D947-7483-5A9D01831A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711A90C-EB3E-3309-1A96-EC6C6B418C2E}"/>
              </a:ext>
            </a:extLst>
          </p:cNvPr>
          <p:cNvSpPr>
            <a:spLocks noGrp="1"/>
          </p:cNvSpPr>
          <p:nvPr>
            <p:ph type="dt" sz="half" idx="10"/>
          </p:nvPr>
        </p:nvSpPr>
        <p:spPr/>
        <p:txBody>
          <a:bodyPr/>
          <a:lstStyle/>
          <a:p>
            <a:fld id="{7003C715-5BE3-4EE0-B23D-3A469D79C25F}" type="datetimeFigureOut">
              <a:rPr lang="en-IN" smtClean="0"/>
              <a:t>28-10-2026</a:t>
            </a:fld>
            <a:endParaRPr lang="en-IN"/>
          </a:p>
        </p:txBody>
      </p:sp>
      <p:sp>
        <p:nvSpPr>
          <p:cNvPr id="5" name="Footer Placeholder 4">
            <a:extLst>
              <a:ext uri="{FF2B5EF4-FFF2-40B4-BE49-F238E27FC236}">
                <a16:creationId xmlns:a16="http://schemas.microsoft.com/office/drawing/2014/main" id="{FCA1E12A-43B4-FCFD-2C28-A29CE5A8CE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74C7E2-B31B-91B5-25B9-1AF2637FD462}"/>
              </a:ext>
            </a:extLst>
          </p:cNvPr>
          <p:cNvSpPr>
            <a:spLocks noGrp="1"/>
          </p:cNvSpPr>
          <p:nvPr>
            <p:ph type="sldNum" sz="quarter" idx="12"/>
          </p:nvPr>
        </p:nvSpPr>
        <p:spPr/>
        <p:txBody>
          <a:bodyPr/>
          <a:lstStyle/>
          <a:p>
            <a:fld id="{B6A6F2B2-5828-4980-AC80-0A04E96D255E}" type="slidenum">
              <a:rPr lang="en-IN" smtClean="0"/>
              <a:t>‹#›</a:t>
            </a:fld>
            <a:endParaRPr lang="en-IN"/>
          </a:p>
        </p:txBody>
      </p:sp>
    </p:spTree>
    <p:extLst>
      <p:ext uri="{BB962C8B-B14F-4D97-AF65-F5344CB8AC3E}">
        <p14:creationId xmlns:p14="http://schemas.microsoft.com/office/powerpoint/2010/main" val="33302564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6C8A5-B5F6-751F-3159-7FE0343308E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653362F-9A19-B1E3-73A1-328455DD85B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E35B06-AB38-C981-F365-C20BBE137AAF}"/>
              </a:ext>
            </a:extLst>
          </p:cNvPr>
          <p:cNvSpPr>
            <a:spLocks noGrp="1"/>
          </p:cNvSpPr>
          <p:nvPr>
            <p:ph type="dt" sz="half" idx="10"/>
          </p:nvPr>
        </p:nvSpPr>
        <p:spPr/>
        <p:txBody>
          <a:bodyPr/>
          <a:lstStyle/>
          <a:p>
            <a:fld id="{7003C715-5BE3-4EE0-B23D-3A469D79C25F}" type="datetimeFigureOut">
              <a:rPr lang="en-IN" smtClean="0"/>
              <a:t>28-10-2026</a:t>
            </a:fld>
            <a:endParaRPr lang="en-IN"/>
          </a:p>
        </p:txBody>
      </p:sp>
      <p:sp>
        <p:nvSpPr>
          <p:cNvPr id="5" name="Footer Placeholder 4">
            <a:extLst>
              <a:ext uri="{FF2B5EF4-FFF2-40B4-BE49-F238E27FC236}">
                <a16:creationId xmlns:a16="http://schemas.microsoft.com/office/drawing/2014/main" id="{485F4CC9-9A6B-F2B7-DE18-DD0FA81CD5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3E2EAB-63D8-B24E-6C31-7B13AC1859C5}"/>
              </a:ext>
            </a:extLst>
          </p:cNvPr>
          <p:cNvSpPr>
            <a:spLocks noGrp="1"/>
          </p:cNvSpPr>
          <p:nvPr>
            <p:ph type="sldNum" sz="quarter" idx="12"/>
          </p:nvPr>
        </p:nvSpPr>
        <p:spPr/>
        <p:txBody>
          <a:bodyPr/>
          <a:lstStyle/>
          <a:p>
            <a:fld id="{B6A6F2B2-5828-4980-AC80-0A04E96D255E}" type="slidenum">
              <a:rPr lang="en-IN" smtClean="0"/>
              <a:t>‹#›</a:t>
            </a:fld>
            <a:endParaRPr lang="en-IN"/>
          </a:p>
        </p:txBody>
      </p:sp>
    </p:spTree>
    <p:extLst>
      <p:ext uri="{BB962C8B-B14F-4D97-AF65-F5344CB8AC3E}">
        <p14:creationId xmlns:p14="http://schemas.microsoft.com/office/powerpoint/2010/main" val="2049878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76EAF-3223-C896-9032-3F6000868C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ADA0354-7424-BA45-CB6E-53217CFDBAD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CDCBF9-7F5B-986A-E9AD-4746787796DB}"/>
              </a:ext>
            </a:extLst>
          </p:cNvPr>
          <p:cNvSpPr>
            <a:spLocks noGrp="1"/>
          </p:cNvSpPr>
          <p:nvPr>
            <p:ph type="dt" sz="half" idx="10"/>
          </p:nvPr>
        </p:nvSpPr>
        <p:spPr/>
        <p:txBody>
          <a:bodyPr/>
          <a:lstStyle/>
          <a:p>
            <a:fld id="{7003C715-5BE3-4EE0-B23D-3A469D79C25F}" type="datetimeFigureOut">
              <a:rPr lang="en-IN" smtClean="0"/>
              <a:t>28-10-2026</a:t>
            </a:fld>
            <a:endParaRPr lang="en-IN"/>
          </a:p>
        </p:txBody>
      </p:sp>
      <p:sp>
        <p:nvSpPr>
          <p:cNvPr id="5" name="Footer Placeholder 4">
            <a:extLst>
              <a:ext uri="{FF2B5EF4-FFF2-40B4-BE49-F238E27FC236}">
                <a16:creationId xmlns:a16="http://schemas.microsoft.com/office/drawing/2014/main" id="{12C43073-AF71-5A23-B602-33A088E617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846F38-22EA-C3CD-6355-6C65B7D87F26}"/>
              </a:ext>
            </a:extLst>
          </p:cNvPr>
          <p:cNvSpPr>
            <a:spLocks noGrp="1"/>
          </p:cNvSpPr>
          <p:nvPr>
            <p:ph type="sldNum" sz="quarter" idx="12"/>
          </p:nvPr>
        </p:nvSpPr>
        <p:spPr/>
        <p:txBody>
          <a:bodyPr/>
          <a:lstStyle/>
          <a:p>
            <a:fld id="{B6A6F2B2-5828-4980-AC80-0A04E96D255E}" type="slidenum">
              <a:rPr lang="en-IN" smtClean="0"/>
              <a:t>‹#›</a:t>
            </a:fld>
            <a:endParaRPr lang="en-IN"/>
          </a:p>
        </p:txBody>
      </p:sp>
    </p:spTree>
    <p:extLst>
      <p:ext uri="{BB962C8B-B14F-4D97-AF65-F5344CB8AC3E}">
        <p14:creationId xmlns:p14="http://schemas.microsoft.com/office/powerpoint/2010/main" val="9449064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70ACE-F625-06FB-AA46-FAA631F9197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7B70452-11A0-EE54-D822-748639DF367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C20A073-688E-1E3E-2F4D-6139A858BAD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3AC4CF3-F0C6-A1BD-919E-726ED4ABC419}"/>
              </a:ext>
            </a:extLst>
          </p:cNvPr>
          <p:cNvSpPr>
            <a:spLocks noGrp="1"/>
          </p:cNvSpPr>
          <p:nvPr>
            <p:ph type="dt" sz="half" idx="10"/>
          </p:nvPr>
        </p:nvSpPr>
        <p:spPr/>
        <p:txBody>
          <a:bodyPr/>
          <a:lstStyle/>
          <a:p>
            <a:fld id="{7003C715-5BE3-4EE0-B23D-3A469D79C25F}" type="datetimeFigureOut">
              <a:rPr lang="en-IN" smtClean="0"/>
              <a:t>28-10-2026</a:t>
            </a:fld>
            <a:endParaRPr lang="en-IN"/>
          </a:p>
        </p:txBody>
      </p:sp>
      <p:sp>
        <p:nvSpPr>
          <p:cNvPr id="6" name="Footer Placeholder 5">
            <a:extLst>
              <a:ext uri="{FF2B5EF4-FFF2-40B4-BE49-F238E27FC236}">
                <a16:creationId xmlns:a16="http://schemas.microsoft.com/office/drawing/2014/main" id="{2740179C-A310-7EAC-731B-F085929ABB5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65421C4-769F-3958-9ED3-FE21884F7F0F}"/>
              </a:ext>
            </a:extLst>
          </p:cNvPr>
          <p:cNvSpPr>
            <a:spLocks noGrp="1"/>
          </p:cNvSpPr>
          <p:nvPr>
            <p:ph type="sldNum" sz="quarter" idx="12"/>
          </p:nvPr>
        </p:nvSpPr>
        <p:spPr/>
        <p:txBody>
          <a:bodyPr/>
          <a:lstStyle/>
          <a:p>
            <a:fld id="{B6A6F2B2-5828-4980-AC80-0A04E96D255E}" type="slidenum">
              <a:rPr lang="en-IN" smtClean="0"/>
              <a:t>‹#›</a:t>
            </a:fld>
            <a:endParaRPr lang="en-IN"/>
          </a:p>
        </p:txBody>
      </p:sp>
    </p:spTree>
    <p:extLst>
      <p:ext uri="{BB962C8B-B14F-4D97-AF65-F5344CB8AC3E}">
        <p14:creationId xmlns:p14="http://schemas.microsoft.com/office/powerpoint/2010/main" val="2457337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7968B-687A-E9F1-E4F9-828E558E999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A927EED-536E-1D78-54F4-0279CFEDB2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A1C19E-B0A7-61B0-A05B-A15F89F6A88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4589890-6774-48FE-2A60-0CC3A70F8B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42D95B8-0622-8312-3DFB-96EE4B81FD6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B5EDC50-CBC8-1F5C-04B2-01347836D3DA}"/>
              </a:ext>
            </a:extLst>
          </p:cNvPr>
          <p:cNvSpPr>
            <a:spLocks noGrp="1"/>
          </p:cNvSpPr>
          <p:nvPr>
            <p:ph type="dt" sz="half" idx="10"/>
          </p:nvPr>
        </p:nvSpPr>
        <p:spPr/>
        <p:txBody>
          <a:bodyPr/>
          <a:lstStyle/>
          <a:p>
            <a:fld id="{7003C715-5BE3-4EE0-B23D-3A469D79C25F}" type="datetimeFigureOut">
              <a:rPr lang="en-IN" smtClean="0"/>
              <a:t>28-10-2026</a:t>
            </a:fld>
            <a:endParaRPr lang="en-IN"/>
          </a:p>
        </p:txBody>
      </p:sp>
      <p:sp>
        <p:nvSpPr>
          <p:cNvPr id="8" name="Footer Placeholder 7">
            <a:extLst>
              <a:ext uri="{FF2B5EF4-FFF2-40B4-BE49-F238E27FC236}">
                <a16:creationId xmlns:a16="http://schemas.microsoft.com/office/drawing/2014/main" id="{C62B2F75-DB21-C9C8-6DD6-5C41DACD538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9996012-276A-E3E6-4343-940FC0D20170}"/>
              </a:ext>
            </a:extLst>
          </p:cNvPr>
          <p:cNvSpPr>
            <a:spLocks noGrp="1"/>
          </p:cNvSpPr>
          <p:nvPr>
            <p:ph type="sldNum" sz="quarter" idx="12"/>
          </p:nvPr>
        </p:nvSpPr>
        <p:spPr/>
        <p:txBody>
          <a:bodyPr/>
          <a:lstStyle/>
          <a:p>
            <a:fld id="{B6A6F2B2-5828-4980-AC80-0A04E96D255E}" type="slidenum">
              <a:rPr lang="en-IN" smtClean="0"/>
              <a:t>‹#›</a:t>
            </a:fld>
            <a:endParaRPr lang="en-IN"/>
          </a:p>
        </p:txBody>
      </p:sp>
    </p:spTree>
    <p:extLst>
      <p:ext uri="{BB962C8B-B14F-4D97-AF65-F5344CB8AC3E}">
        <p14:creationId xmlns:p14="http://schemas.microsoft.com/office/powerpoint/2010/main" val="3392923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79C07-F1FC-2993-3403-4AE595E6449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E2E8970-A37D-BA1C-2D2F-E1F67DF535EF}"/>
              </a:ext>
            </a:extLst>
          </p:cNvPr>
          <p:cNvSpPr>
            <a:spLocks noGrp="1"/>
          </p:cNvSpPr>
          <p:nvPr>
            <p:ph type="dt" sz="half" idx="10"/>
          </p:nvPr>
        </p:nvSpPr>
        <p:spPr/>
        <p:txBody>
          <a:bodyPr/>
          <a:lstStyle/>
          <a:p>
            <a:fld id="{7003C715-5BE3-4EE0-B23D-3A469D79C25F}" type="datetimeFigureOut">
              <a:rPr lang="en-IN" smtClean="0"/>
              <a:t>28-10-2026</a:t>
            </a:fld>
            <a:endParaRPr lang="en-IN"/>
          </a:p>
        </p:txBody>
      </p:sp>
      <p:sp>
        <p:nvSpPr>
          <p:cNvPr id="4" name="Footer Placeholder 3">
            <a:extLst>
              <a:ext uri="{FF2B5EF4-FFF2-40B4-BE49-F238E27FC236}">
                <a16:creationId xmlns:a16="http://schemas.microsoft.com/office/drawing/2014/main" id="{7374A601-EFDF-DFE7-2DCD-88EAC7855F9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2762E25-941E-A795-73ED-88D3444EC75A}"/>
              </a:ext>
            </a:extLst>
          </p:cNvPr>
          <p:cNvSpPr>
            <a:spLocks noGrp="1"/>
          </p:cNvSpPr>
          <p:nvPr>
            <p:ph type="sldNum" sz="quarter" idx="12"/>
          </p:nvPr>
        </p:nvSpPr>
        <p:spPr/>
        <p:txBody>
          <a:bodyPr/>
          <a:lstStyle/>
          <a:p>
            <a:fld id="{B6A6F2B2-5828-4980-AC80-0A04E96D255E}" type="slidenum">
              <a:rPr lang="en-IN" smtClean="0"/>
              <a:t>‹#›</a:t>
            </a:fld>
            <a:endParaRPr lang="en-IN"/>
          </a:p>
        </p:txBody>
      </p:sp>
    </p:spTree>
    <p:extLst>
      <p:ext uri="{BB962C8B-B14F-4D97-AF65-F5344CB8AC3E}">
        <p14:creationId xmlns:p14="http://schemas.microsoft.com/office/powerpoint/2010/main" val="3827002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417128-319D-5B07-3FBB-216FAEE55ADC}"/>
              </a:ext>
            </a:extLst>
          </p:cNvPr>
          <p:cNvSpPr>
            <a:spLocks noGrp="1"/>
          </p:cNvSpPr>
          <p:nvPr>
            <p:ph type="dt" sz="half" idx="10"/>
          </p:nvPr>
        </p:nvSpPr>
        <p:spPr/>
        <p:txBody>
          <a:bodyPr/>
          <a:lstStyle/>
          <a:p>
            <a:fld id="{7003C715-5BE3-4EE0-B23D-3A469D79C25F}" type="datetimeFigureOut">
              <a:rPr lang="en-IN" smtClean="0"/>
              <a:t>28-10-2026</a:t>
            </a:fld>
            <a:endParaRPr lang="en-IN"/>
          </a:p>
        </p:txBody>
      </p:sp>
      <p:sp>
        <p:nvSpPr>
          <p:cNvPr id="3" name="Footer Placeholder 2">
            <a:extLst>
              <a:ext uri="{FF2B5EF4-FFF2-40B4-BE49-F238E27FC236}">
                <a16:creationId xmlns:a16="http://schemas.microsoft.com/office/drawing/2014/main" id="{DD06E0B0-1BB2-6099-2D81-516D4D42345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0914B17-8407-D10E-0F41-82C1025A6CBD}"/>
              </a:ext>
            </a:extLst>
          </p:cNvPr>
          <p:cNvSpPr>
            <a:spLocks noGrp="1"/>
          </p:cNvSpPr>
          <p:nvPr>
            <p:ph type="sldNum" sz="quarter" idx="12"/>
          </p:nvPr>
        </p:nvSpPr>
        <p:spPr/>
        <p:txBody>
          <a:bodyPr/>
          <a:lstStyle/>
          <a:p>
            <a:fld id="{B6A6F2B2-5828-4980-AC80-0A04E96D255E}" type="slidenum">
              <a:rPr lang="en-IN" smtClean="0"/>
              <a:t>‹#›</a:t>
            </a:fld>
            <a:endParaRPr lang="en-IN"/>
          </a:p>
        </p:txBody>
      </p:sp>
    </p:spTree>
    <p:extLst>
      <p:ext uri="{BB962C8B-B14F-4D97-AF65-F5344CB8AC3E}">
        <p14:creationId xmlns:p14="http://schemas.microsoft.com/office/powerpoint/2010/main" val="4258208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4E6C6-BC35-804D-6937-E8E6E59525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AB581AF-E3D0-FE61-E73B-B0CDD00D3A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82E9619-35BC-7FDF-0D04-2AA3CB048C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D24C86-51CA-CBB9-A851-B29DBF2ABBC0}"/>
              </a:ext>
            </a:extLst>
          </p:cNvPr>
          <p:cNvSpPr>
            <a:spLocks noGrp="1"/>
          </p:cNvSpPr>
          <p:nvPr>
            <p:ph type="dt" sz="half" idx="10"/>
          </p:nvPr>
        </p:nvSpPr>
        <p:spPr/>
        <p:txBody>
          <a:bodyPr/>
          <a:lstStyle/>
          <a:p>
            <a:fld id="{7003C715-5BE3-4EE0-B23D-3A469D79C25F}" type="datetimeFigureOut">
              <a:rPr lang="en-IN" smtClean="0"/>
              <a:t>28-10-2026</a:t>
            </a:fld>
            <a:endParaRPr lang="en-IN"/>
          </a:p>
        </p:txBody>
      </p:sp>
      <p:sp>
        <p:nvSpPr>
          <p:cNvPr id="6" name="Footer Placeholder 5">
            <a:extLst>
              <a:ext uri="{FF2B5EF4-FFF2-40B4-BE49-F238E27FC236}">
                <a16:creationId xmlns:a16="http://schemas.microsoft.com/office/drawing/2014/main" id="{FB08B1B2-2A8F-25CE-CD4B-E7941EB414B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383CB90-9F4A-85BD-DE59-AD0A5B50E324}"/>
              </a:ext>
            </a:extLst>
          </p:cNvPr>
          <p:cNvSpPr>
            <a:spLocks noGrp="1"/>
          </p:cNvSpPr>
          <p:nvPr>
            <p:ph type="sldNum" sz="quarter" idx="12"/>
          </p:nvPr>
        </p:nvSpPr>
        <p:spPr/>
        <p:txBody>
          <a:bodyPr/>
          <a:lstStyle/>
          <a:p>
            <a:fld id="{B6A6F2B2-5828-4980-AC80-0A04E96D255E}" type="slidenum">
              <a:rPr lang="en-IN" smtClean="0"/>
              <a:t>‹#›</a:t>
            </a:fld>
            <a:endParaRPr lang="en-IN"/>
          </a:p>
        </p:txBody>
      </p:sp>
    </p:spTree>
    <p:extLst>
      <p:ext uri="{BB962C8B-B14F-4D97-AF65-F5344CB8AC3E}">
        <p14:creationId xmlns:p14="http://schemas.microsoft.com/office/powerpoint/2010/main" val="4873187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98497-4910-FEB8-F7AF-1EE0E00226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027C8DD-610A-43A3-C8DF-B309E926E9F3}"/>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B88D440-CC70-2C51-4A7C-95E26E191A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AAE7DA-A214-ED39-CF4B-03405746C5B5}"/>
              </a:ext>
            </a:extLst>
          </p:cNvPr>
          <p:cNvSpPr>
            <a:spLocks noGrp="1"/>
          </p:cNvSpPr>
          <p:nvPr>
            <p:ph type="dt" sz="half" idx="10"/>
          </p:nvPr>
        </p:nvSpPr>
        <p:spPr/>
        <p:txBody>
          <a:bodyPr/>
          <a:lstStyle/>
          <a:p>
            <a:fld id="{7003C715-5BE3-4EE0-B23D-3A469D79C25F}" type="datetimeFigureOut">
              <a:rPr lang="en-IN" smtClean="0"/>
              <a:t>28-10-2026</a:t>
            </a:fld>
            <a:endParaRPr lang="en-IN"/>
          </a:p>
        </p:txBody>
      </p:sp>
      <p:sp>
        <p:nvSpPr>
          <p:cNvPr id="6" name="Footer Placeholder 5">
            <a:extLst>
              <a:ext uri="{FF2B5EF4-FFF2-40B4-BE49-F238E27FC236}">
                <a16:creationId xmlns:a16="http://schemas.microsoft.com/office/drawing/2014/main" id="{69082D74-2F3A-AFCA-D3CB-73A1D3E89B6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58F2B23-026D-7924-863D-7024C63812C5}"/>
              </a:ext>
            </a:extLst>
          </p:cNvPr>
          <p:cNvSpPr>
            <a:spLocks noGrp="1"/>
          </p:cNvSpPr>
          <p:nvPr>
            <p:ph type="sldNum" sz="quarter" idx="12"/>
          </p:nvPr>
        </p:nvSpPr>
        <p:spPr/>
        <p:txBody>
          <a:bodyPr/>
          <a:lstStyle/>
          <a:p>
            <a:fld id="{B6A6F2B2-5828-4980-AC80-0A04E96D255E}" type="slidenum">
              <a:rPr lang="en-IN" smtClean="0"/>
              <a:t>‹#›</a:t>
            </a:fld>
            <a:endParaRPr lang="en-IN"/>
          </a:p>
        </p:txBody>
      </p:sp>
    </p:spTree>
    <p:extLst>
      <p:ext uri="{BB962C8B-B14F-4D97-AF65-F5344CB8AC3E}">
        <p14:creationId xmlns:p14="http://schemas.microsoft.com/office/powerpoint/2010/main" val="584814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8B531-58BD-54D6-0C6B-5E54E5C640A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EF5D577-F094-239B-F8C0-F54007673C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7BF7BE-1245-36FB-B4D6-82007E6CD8E1}"/>
              </a:ext>
            </a:extLst>
          </p:cNvPr>
          <p:cNvSpPr>
            <a:spLocks noGrp="1"/>
          </p:cNvSpPr>
          <p:nvPr>
            <p:ph type="dt" sz="half" idx="10"/>
          </p:nvPr>
        </p:nvSpPr>
        <p:spPr/>
        <p:txBody>
          <a:bodyPr/>
          <a:lstStyle/>
          <a:p>
            <a:fld id="{7003C715-5BE3-4EE0-B23D-3A469D79C25F}" type="datetimeFigureOut">
              <a:rPr lang="en-IN" smtClean="0"/>
              <a:t>28-10-2026</a:t>
            </a:fld>
            <a:endParaRPr lang="en-IN"/>
          </a:p>
        </p:txBody>
      </p:sp>
      <p:sp>
        <p:nvSpPr>
          <p:cNvPr id="5" name="Footer Placeholder 4">
            <a:extLst>
              <a:ext uri="{FF2B5EF4-FFF2-40B4-BE49-F238E27FC236}">
                <a16:creationId xmlns:a16="http://schemas.microsoft.com/office/drawing/2014/main" id="{DF0F3083-4F70-CC50-29E2-D56AC51948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5CC47A-57A1-2DA2-3052-966683859B92}"/>
              </a:ext>
            </a:extLst>
          </p:cNvPr>
          <p:cNvSpPr>
            <a:spLocks noGrp="1"/>
          </p:cNvSpPr>
          <p:nvPr>
            <p:ph type="sldNum" sz="quarter" idx="12"/>
          </p:nvPr>
        </p:nvSpPr>
        <p:spPr/>
        <p:txBody>
          <a:bodyPr/>
          <a:lstStyle/>
          <a:p>
            <a:fld id="{B6A6F2B2-5828-4980-AC80-0A04E96D255E}" type="slidenum">
              <a:rPr lang="en-IN" smtClean="0"/>
              <a:t>‹#›</a:t>
            </a:fld>
            <a:endParaRPr lang="en-IN"/>
          </a:p>
        </p:txBody>
      </p:sp>
    </p:spTree>
    <p:extLst>
      <p:ext uri="{BB962C8B-B14F-4D97-AF65-F5344CB8AC3E}">
        <p14:creationId xmlns:p14="http://schemas.microsoft.com/office/powerpoint/2010/main" val="3848175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7633BED-4400-C395-53E3-A4ECF5E7B02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EB350F0-10D9-6394-AEC5-9D2000C7DF8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B98D90-F19E-AF5A-88EB-4C6A37B49A26}"/>
              </a:ext>
            </a:extLst>
          </p:cNvPr>
          <p:cNvSpPr>
            <a:spLocks noGrp="1"/>
          </p:cNvSpPr>
          <p:nvPr>
            <p:ph type="dt" sz="half" idx="10"/>
          </p:nvPr>
        </p:nvSpPr>
        <p:spPr/>
        <p:txBody>
          <a:bodyPr/>
          <a:lstStyle/>
          <a:p>
            <a:fld id="{7003C715-5BE3-4EE0-B23D-3A469D79C25F}" type="datetimeFigureOut">
              <a:rPr lang="en-IN" smtClean="0"/>
              <a:t>28-10-2026</a:t>
            </a:fld>
            <a:endParaRPr lang="en-IN"/>
          </a:p>
        </p:txBody>
      </p:sp>
      <p:sp>
        <p:nvSpPr>
          <p:cNvPr id="5" name="Footer Placeholder 4">
            <a:extLst>
              <a:ext uri="{FF2B5EF4-FFF2-40B4-BE49-F238E27FC236}">
                <a16:creationId xmlns:a16="http://schemas.microsoft.com/office/drawing/2014/main" id="{EA01F2B0-0857-AF5A-252D-AECDF28CB0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9B725D-21A3-9A5F-A67B-D3420DD9D1EE}"/>
              </a:ext>
            </a:extLst>
          </p:cNvPr>
          <p:cNvSpPr>
            <a:spLocks noGrp="1"/>
          </p:cNvSpPr>
          <p:nvPr>
            <p:ph type="sldNum" sz="quarter" idx="12"/>
          </p:nvPr>
        </p:nvSpPr>
        <p:spPr/>
        <p:txBody>
          <a:bodyPr/>
          <a:lstStyle/>
          <a:p>
            <a:fld id="{B6A6F2B2-5828-4980-AC80-0A04E96D255E}" type="slidenum">
              <a:rPr lang="en-IN" smtClean="0"/>
              <a:t>‹#›</a:t>
            </a:fld>
            <a:endParaRPr lang="en-IN"/>
          </a:p>
        </p:txBody>
      </p:sp>
    </p:spTree>
    <p:extLst>
      <p:ext uri="{BB962C8B-B14F-4D97-AF65-F5344CB8AC3E}">
        <p14:creationId xmlns:p14="http://schemas.microsoft.com/office/powerpoint/2010/main" val="19090209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8EC365-35C1-9D02-7BF6-D08C2D0CC2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7FCC6A5-01CD-D849-4668-1776353E3F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471F6ED-B4B1-8BB8-A7E4-FC5814DB33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003C715-5BE3-4EE0-B23D-3A469D79C25F}" type="datetimeFigureOut">
              <a:rPr lang="en-IN" smtClean="0"/>
              <a:t>28-10-2026</a:t>
            </a:fld>
            <a:endParaRPr lang="en-IN"/>
          </a:p>
        </p:txBody>
      </p:sp>
      <p:sp>
        <p:nvSpPr>
          <p:cNvPr id="5" name="Footer Placeholder 4">
            <a:extLst>
              <a:ext uri="{FF2B5EF4-FFF2-40B4-BE49-F238E27FC236}">
                <a16:creationId xmlns:a16="http://schemas.microsoft.com/office/drawing/2014/main" id="{34382419-6A35-0A9B-D574-5236855FBF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205CB74-2B1C-5D19-DE68-5143C96634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6A6F2B2-5828-4980-AC80-0A04E96D255E}" type="slidenum">
              <a:rPr lang="en-IN" smtClean="0"/>
              <a:t>‹#›</a:t>
            </a:fld>
            <a:endParaRPr lang="en-IN"/>
          </a:p>
        </p:txBody>
      </p:sp>
    </p:spTree>
    <p:extLst>
      <p:ext uri="{BB962C8B-B14F-4D97-AF65-F5344CB8AC3E}">
        <p14:creationId xmlns:p14="http://schemas.microsoft.com/office/powerpoint/2010/main" val="31245500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9309B4-9B10-D9C2-BBED-3BE2773B9F54}"/>
              </a:ext>
            </a:extLst>
          </p:cNvPr>
          <p:cNvSpPr txBox="1"/>
          <p:nvPr/>
        </p:nvSpPr>
        <p:spPr>
          <a:xfrm>
            <a:off x="673510" y="432619"/>
            <a:ext cx="10844980" cy="5163529"/>
          </a:xfrm>
          <a:prstGeom prst="rect">
            <a:avLst/>
          </a:prstGeom>
          <a:noFill/>
        </p:spPr>
        <p:txBody>
          <a:bodyPr wrap="square" rtlCol="0">
            <a:spAutoFit/>
          </a:bodyPr>
          <a:lstStyle/>
          <a:p>
            <a:pPr>
              <a:lnSpc>
                <a:spcPct val="200000"/>
              </a:lnSpc>
            </a:pPr>
            <a:r>
              <a:rPr lang="en-US" sz="2400" b="1" dirty="0">
                <a:solidFill>
                  <a:srgbClr val="FF0000"/>
                </a:solidFill>
                <a:latin typeface="Times New Roman" panose="02020603050405020304" pitchFamily="18" charset="0"/>
                <a:cs typeface="Times New Roman" panose="02020603050405020304" pitchFamily="18" charset="0"/>
              </a:rPr>
              <a:t>Recap</a:t>
            </a:r>
          </a:p>
          <a:p>
            <a:pPr marL="342900" indent="-342900">
              <a:lnSpc>
                <a:spcPct val="200000"/>
              </a:lnSpc>
              <a:buFontTx/>
              <a:buChar char="-"/>
            </a:pPr>
            <a:r>
              <a:rPr lang="en-IN" sz="2400" dirty="0">
                <a:latin typeface="Times New Roman" panose="02020603050405020304" pitchFamily="18" charset="0"/>
                <a:cs typeface="Times New Roman" panose="02020603050405020304" pitchFamily="18" charset="0"/>
              </a:rPr>
              <a:t>Need for security </a:t>
            </a:r>
          </a:p>
          <a:p>
            <a:pPr marL="342900" indent="-342900">
              <a:lnSpc>
                <a:spcPct val="200000"/>
              </a:lnSpc>
              <a:buFontTx/>
              <a:buChar char="-"/>
            </a:pPr>
            <a:r>
              <a:rPr lang="en-IN" sz="2400" dirty="0">
                <a:latin typeface="Times New Roman" panose="02020603050405020304" pitchFamily="18" charset="0"/>
                <a:cs typeface="Times New Roman" panose="02020603050405020304" pitchFamily="18" charset="0"/>
              </a:rPr>
              <a:t>Security Principles </a:t>
            </a:r>
          </a:p>
          <a:p>
            <a:pPr marL="342900" indent="-342900">
              <a:lnSpc>
                <a:spcPct val="200000"/>
              </a:lnSpc>
              <a:buFontTx/>
              <a:buChar char="-"/>
            </a:pPr>
            <a:r>
              <a:rPr lang="en-IN" sz="2400" dirty="0">
                <a:latin typeface="Times New Roman" panose="02020603050405020304" pitchFamily="18" charset="0"/>
                <a:cs typeface="Times New Roman" panose="02020603050405020304" pitchFamily="18" charset="0"/>
              </a:rPr>
              <a:t>CIA Triad</a:t>
            </a:r>
          </a:p>
          <a:p>
            <a:pPr marL="342900" indent="-342900">
              <a:lnSpc>
                <a:spcPct val="200000"/>
              </a:lnSpc>
              <a:buFontTx/>
              <a:buChar char="-"/>
            </a:pPr>
            <a:r>
              <a:rPr lang="en-IN" sz="2400" dirty="0">
                <a:latin typeface="Times New Roman" panose="02020603050405020304" pitchFamily="18" charset="0"/>
                <a:cs typeface="Times New Roman" panose="02020603050405020304" pitchFamily="18" charset="0"/>
              </a:rPr>
              <a:t> People, Policy, and Technology  </a:t>
            </a:r>
          </a:p>
          <a:p>
            <a:pPr>
              <a:lnSpc>
                <a:spcPct val="200000"/>
              </a:lnSpc>
            </a:pPr>
            <a:endParaRPr lang="en-IN" sz="2400" b="1" dirty="0">
              <a:latin typeface="Times New Roman" panose="02020603050405020304" pitchFamily="18" charset="0"/>
              <a:cs typeface="Times New Roman" panose="02020603050405020304" pitchFamily="18" charset="0"/>
            </a:endParaRPr>
          </a:p>
          <a:p>
            <a:pPr marL="342900" indent="-342900">
              <a:lnSpc>
                <a:spcPct val="200000"/>
              </a:lnSpc>
              <a:buFontTx/>
              <a:buChar char="-"/>
            </a:pP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24964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0F1B87B-D180-8398-08DC-31DD94C7A802}"/>
              </a:ext>
            </a:extLst>
          </p:cNvPr>
          <p:cNvSpPr txBox="1"/>
          <p:nvPr/>
        </p:nvSpPr>
        <p:spPr>
          <a:xfrm>
            <a:off x="668594" y="521110"/>
            <a:ext cx="9684774" cy="3785652"/>
          </a:xfrm>
          <a:prstGeom prst="rect">
            <a:avLst/>
          </a:prstGeom>
          <a:noFill/>
        </p:spPr>
        <p:txBody>
          <a:bodyPr wrap="square" rtlCol="0">
            <a:spAutoFit/>
          </a:bodyPr>
          <a:lstStyle/>
          <a:p>
            <a:r>
              <a:rPr lang="en-US" sz="2400" b="1" dirty="0">
                <a:solidFill>
                  <a:srgbClr val="C00000"/>
                </a:solidFill>
                <a:latin typeface="Times New Roman" panose="02020603050405020304" pitchFamily="18" charset="0"/>
                <a:cs typeface="Times New Roman" panose="02020603050405020304" pitchFamily="18" charset="0"/>
              </a:rPr>
              <a:t>Outline </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Types of Attack </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Components of a cryptosystem</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Security Models </a:t>
            </a:r>
          </a:p>
          <a:p>
            <a:r>
              <a:rPr lang="en-IN" sz="2400" dirty="0">
                <a:latin typeface="Times New Roman" panose="02020603050405020304" pitchFamily="18" charset="0"/>
                <a:cs typeface="Times New Roman" panose="02020603050405020304" pitchFamily="18" charset="0"/>
              </a:rPr>
              <a:t>	- McCumber model </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Intro to the web </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0312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A276DDE-AB9B-EFFE-B6DB-30ED665BA51C}"/>
              </a:ext>
            </a:extLst>
          </p:cNvPr>
          <p:cNvSpPr txBox="1"/>
          <p:nvPr/>
        </p:nvSpPr>
        <p:spPr>
          <a:xfrm>
            <a:off x="658761" y="511277"/>
            <a:ext cx="10805652" cy="3416320"/>
          </a:xfrm>
          <a:prstGeom prst="rect">
            <a:avLst/>
          </a:prstGeom>
          <a:noFill/>
        </p:spPr>
        <p:txBody>
          <a:bodyPr wrap="square" rtlCol="0">
            <a:spAutoFit/>
          </a:bodyPr>
          <a:lstStyle/>
          <a:p>
            <a:r>
              <a:rPr lang="en-US" sz="2400" b="1" dirty="0">
                <a:solidFill>
                  <a:srgbClr val="C00000"/>
                </a:solidFill>
                <a:latin typeface="Times New Roman" panose="02020603050405020304" pitchFamily="18" charset="0"/>
                <a:cs typeface="Times New Roman" panose="02020603050405020304" pitchFamily="18" charset="0"/>
              </a:rPr>
              <a:t>Types of Attack </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Passive </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Active </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3182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5CF2499-21AA-3369-C058-FC42904E274B}"/>
              </a:ext>
            </a:extLst>
          </p:cNvPr>
          <p:cNvSpPr txBox="1"/>
          <p:nvPr/>
        </p:nvSpPr>
        <p:spPr>
          <a:xfrm>
            <a:off x="609600" y="577559"/>
            <a:ext cx="11061290" cy="2769989"/>
          </a:xfrm>
          <a:prstGeom prst="rect">
            <a:avLst/>
          </a:prstGeom>
          <a:noFill/>
        </p:spPr>
        <p:txBody>
          <a:bodyPr wrap="square">
            <a:spAutoFit/>
          </a:bodyPr>
          <a:lstStyle/>
          <a:p>
            <a:pPr marR="0" lvl="0">
              <a:spcAft>
                <a:spcPts val="900"/>
              </a:spcAft>
            </a:pPr>
            <a:r>
              <a:rPr lang="en-IN" sz="2400" b="1" u="none" strike="noStrike" dirty="0">
                <a:solidFill>
                  <a:srgbClr val="C00000"/>
                </a:solidFill>
                <a:effectLst/>
                <a:latin typeface="Times New Roman" panose="02020603050405020304" pitchFamily="18" charset="0"/>
                <a:cs typeface="Times New Roman" panose="02020603050405020304" pitchFamily="18" charset="0"/>
              </a:rPr>
              <a:t>Eavesdropping (Snooping)</a:t>
            </a:r>
          </a:p>
          <a:p>
            <a:pPr marR="0" lvl="0">
              <a:spcAft>
                <a:spcPts val="900"/>
              </a:spcAft>
            </a:pPr>
            <a:endParaRPr lang="en-IN" sz="2400" b="1" dirty="0">
              <a:latin typeface="Times New Roman" panose="02020603050405020304" pitchFamily="18" charset="0"/>
              <a:cs typeface="Times New Roman" panose="02020603050405020304" pitchFamily="18" charset="0"/>
            </a:endParaRPr>
          </a:p>
          <a:p>
            <a:pPr marR="0" lvl="0">
              <a:spcAft>
                <a:spcPts val="900"/>
              </a:spcAft>
            </a:pPr>
            <a:r>
              <a:rPr lang="en-IN" sz="2400" b="0" u="none" strike="noStrike" dirty="0">
                <a:effectLst/>
                <a:latin typeface="Times New Roman" panose="02020603050405020304" pitchFamily="18" charset="0"/>
                <a:cs typeface="Times New Roman" panose="02020603050405020304" pitchFamily="18" charset="0"/>
              </a:rPr>
              <a:t> An attacker intercepts communication between two parties to steal confidential information like passwords, credit card numbers, or proprietary business data.</a:t>
            </a:r>
          </a:p>
          <a:p>
            <a:pPr marR="0" lvl="0">
              <a:spcAft>
                <a:spcPts val="900"/>
              </a:spcAft>
            </a:pPr>
            <a:endParaRPr lang="en-IN" sz="2400" dirty="0">
              <a:latin typeface="Times New Roman" panose="02020603050405020304" pitchFamily="18" charset="0"/>
              <a:cs typeface="Times New Roman" panose="02020603050405020304" pitchFamily="18" charset="0"/>
            </a:endParaRPr>
          </a:p>
          <a:p>
            <a:pPr marR="0" lvl="0">
              <a:spcAft>
                <a:spcPts val="900"/>
              </a:spcAft>
            </a:pPr>
            <a:r>
              <a:rPr lang="en-IN" sz="2400" b="0" u="none" strike="noStrike" dirty="0">
                <a:effectLst/>
                <a:latin typeface="Times New Roman" panose="02020603050405020304" pitchFamily="18" charset="0"/>
                <a:cs typeface="Times New Roman" panose="02020603050405020304" pitchFamily="18" charset="0"/>
              </a:rPr>
              <a:t>This typically happens on unsecured, unencrypted networks (like public Wi-Fi).</a:t>
            </a:r>
          </a:p>
        </p:txBody>
      </p:sp>
    </p:spTree>
    <p:extLst>
      <p:ext uri="{BB962C8B-B14F-4D97-AF65-F5344CB8AC3E}">
        <p14:creationId xmlns:p14="http://schemas.microsoft.com/office/powerpoint/2010/main" val="23577783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8241EA0-73C7-498C-C27A-3E79FB1F6F70}"/>
              </a:ext>
            </a:extLst>
          </p:cNvPr>
          <p:cNvSpPr txBox="1"/>
          <p:nvPr/>
        </p:nvSpPr>
        <p:spPr>
          <a:xfrm>
            <a:off x="766915" y="640415"/>
            <a:ext cx="10717161" cy="2731517"/>
          </a:xfrm>
          <a:prstGeom prst="rect">
            <a:avLst/>
          </a:prstGeom>
          <a:noFill/>
        </p:spPr>
        <p:txBody>
          <a:bodyPr wrap="square">
            <a:spAutoFit/>
          </a:bodyPr>
          <a:lstStyle/>
          <a:p>
            <a:pPr marR="0" lvl="0">
              <a:spcBef>
                <a:spcPts val="900"/>
              </a:spcBef>
              <a:spcAft>
                <a:spcPts val="1200"/>
              </a:spcAft>
            </a:pPr>
            <a:r>
              <a:rPr lang="en-IN" sz="2400" b="1" u="none" strike="noStrike" dirty="0" err="1">
                <a:solidFill>
                  <a:srgbClr val="C00000"/>
                </a:solidFill>
                <a:effectLst/>
                <a:latin typeface="Times New Roman" panose="02020603050405020304" pitchFamily="18" charset="0"/>
                <a:cs typeface="Times New Roman" panose="02020603050405020304" pitchFamily="18" charset="0"/>
              </a:rPr>
              <a:t>Footprinting</a:t>
            </a:r>
            <a:r>
              <a:rPr lang="en-IN" sz="2400" b="1" u="none" strike="noStrike" dirty="0">
                <a:solidFill>
                  <a:srgbClr val="C00000"/>
                </a:solidFill>
                <a:effectLst/>
                <a:latin typeface="Times New Roman" panose="02020603050405020304" pitchFamily="18" charset="0"/>
                <a:cs typeface="Times New Roman" panose="02020603050405020304" pitchFamily="18" charset="0"/>
              </a:rPr>
              <a:t> / Reconnaissance</a:t>
            </a:r>
          </a:p>
          <a:p>
            <a:pPr marR="0" lvl="0">
              <a:spcBef>
                <a:spcPts val="900"/>
              </a:spcBef>
              <a:spcAft>
                <a:spcPts val="1200"/>
              </a:spcAft>
            </a:pPr>
            <a:r>
              <a:rPr lang="en-IN" sz="2400" b="0" u="none" strike="noStrike" dirty="0">
                <a:effectLst/>
                <a:latin typeface="Times New Roman" panose="02020603050405020304" pitchFamily="18" charset="0"/>
                <a:cs typeface="Times New Roman" panose="02020603050405020304" pitchFamily="18" charset="0"/>
              </a:rPr>
              <a:t>A hacker gathers open-source information, scans open ports, or observes network activity to map out an organization’s system architecture before launching an active exploitation phase.</a:t>
            </a:r>
          </a:p>
          <a:p>
            <a:pPr>
              <a:buNone/>
            </a:pPr>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3526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9518A02-2600-A8C4-5152-04238F12C2DC}"/>
              </a:ext>
            </a:extLst>
          </p:cNvPr>
          <p:cNvSpPr txBox="1"/>
          <p:nvPr/>
        </p:nvSpPr>
        <p:spPr>
          <a:xfrm>
            <a:off x="334297" y="243512"/>
            <a:ext cx="11661058" cy="637097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Case 1: </a:t>
            </a:r>
          </a:p>
          <a:p>
            <a:endParaRPr lang="en-IN" sz="2400" b="1"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An office worker at a local bank receives an email that looks like a routine automated security alert from Microsoft 365, stating that their account password has expired. The email includes a button </a:t>
            </a:r>
            <a:r>
              <a:rPr lang="en-IN" sz="2400" dirty="0" err="1">
                <a:latin typeface="Times New Roman" panose="02020603050405020304" pitchFamily="18" charset="0"/>
                <a:cs typeface="Times New Roman" panose="02020603050405020304" pitchFamily="18" charset="0"/>
              </a:rPr>
              <a:t>labeled</a:t>
            </a:r>
            <a:r>
              <a:rPr lang="en-IN" sz="2400" dirty="0">
                <a:latin typeface="Times New Roman" panose="02020603050405020304" pitchFamily="18" charset="0"/>
                <a:cs typeface="Times New Roman" panose="02020603050405020304" pitchFamily="18" charset="0"/>
              </a:rPr>
              <a:t> "Update Password Now." When clicked, it opens a webpage that looks identical to the official company login screen. The employee enters their current username and password. However, after clicking "Submit," the page simply errors out, and the employee notices the web browser's URL bar reads </a:t>
            </a:r>
            <a:r>
              <a:rPr lang="en-IN" sz="2400" b="0" u="none" strike="noStrike" dirty="0">
                <a:effectLst/>
                <a:latin typeface="Times New Roman" panose="02020603050405020304" pitchFamily="18" charset="0"/>
                <a:cs typeface="Times New Roman" panose="02020603050405020304" pitchFamily="18" charset="0"/>
              </a:rPr>
              <a:t>micros0ft-secure-update.com</a:t>
            </a:r>
            <a:r>
              <a:rPr lang="en-IN" sz="2400" dirty="0">
                <a:latin typeface="Times New Roman" panose="02020603050405020304" pitchFamily="18" charset="0"/>
                <a:cs typeface="Times New Roman" panose="02020603050405020304" pitchFamily="18" charset="0"/>
              </a:rPr>
              <a:t> instead of a legitimate login domain.</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Name of the attack: </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Type of Attack: </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Attack On: </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Prevent: </a:t>
            </a:r>
          </a:p>
        </p:txBody>
      </p:sp>
    </p:spTree>
    <p:extLst>
      <p:ext uri="{BB962C8B-B14F-4D97-AF65-F5344CB8AC3E}">
        <p14:creationId xmlns:p14="http://schemas.microsoft.com/office/powerpoint/2010/main" val="38735323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BAB1E9-26B1-50EB-8133-EC6E2E08551F}"/>
              </a:ext>
            </a:extLst>
          </p:cNvPr>
          <p:cNvSpPr txBox="1"/>
          <p:nvPr/>
        </p:nvSpPr>
        <p:spPr>
          <a:xfrm>
            <a:off x="491614" y="431173"/>
            <a:ext cx="11474244" cy="3046988"/>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Case 2: </a:t>
            </a:r>
          </a:p>
          <a:p>
            <a:endParaRPr lang="en-IN" sz="2400" b="1"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A university’s IT department notices a massive, sudden spike in incoming traffic directed at their primary student </a:t>
            </a:r>
            <a:r>
              <a:rPr lang="en-IN" sz="2400" dirty="0" err="1">
                <a:latin typeface="Times New Roman" panose="02020603050405020304" pitchFamily="18" charset="0"/>
                <a:cs typeface="Times New Roman" panose="02020603050405020304" pitchFamily="18" charset="0"/>
              </a:rPr>
              <a:t>enrollment</a:t>
            </a:r>
            <a:r>
              <a:rPr lang="en-IN" sz="2400" dirty="0">
                <a:latin typeface="Times New Roman" panose="02020603050405020304" pitchFamily="18" charset="0"/>
                <a:cs typeface="Times New Roman" panose="02020603050405020304" pitchFamily="18" charset="0"/>
              </a:rPr>
              <a:t> website right as course registration opens. Within minutes, the web servers become completely overwhelmed by millions of junk connection requests coming from thousands of different, unrelated IP addresses spread all across the globe. Real students trying to log in are met with "Server Timed Out" errors, and the entire registration system crashes.</a:t>
            </a:r>
          </a:p>
        </p:txBody>
      </p:sp>
      <p:sp>
        <p:nvSpPr>
          <p:cNvPr id="4" name="TextBox 3">
            <a:extLst>
              <a:ext uri="{FF2B5EF4-FFF2-40B4-BE49-F238E27FC236}">
                <a16:creationId xmlns:a16="http://schemas.microsoft.com/office/drawing/2014/main" id="{D9189608-B31F-2BDA-4CF9-636950980A56}"/>
              </a:ext>
            </a:extLst>
          </p:cNvPr>
          <p:cNvSpPr txBox="1"/>
          <p:nvPr/>
        </p:nvSpPr>
        <p:spPr>
          <a:xfrm>
            <a:off x="570271" y="3749171"/>
            <a:ext cx="6096000" cy="2677656"/>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Name of the attack: </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Type of Attack: </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Attack On: </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Prevent: </a:t>
            </a:r>
          </a:p>
        </p:txBody>
      </p:sp>
    </p:spTree>
    <p:extLst>
      <p:ext uri="{BB962C8B-B14F-4D97-AF65-F5344CB8AC3E}">
        <p14:creationId xmlns:p14="http://schemas.microsoft.com/office/powerpoint/2010/main" val="39867136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54D3EEF-6E55-FDF6-CD7E-E73462E47168}"/>
              </a:ext>
            </a:extLst>
          </p:cNvPr>
          <p:cNvSpPr txBox="1"/>
          <p:nvPr/>
        </p:nvSpPr>
        <p:spPr>
          <a:xfrm>
            <a:off x="491612" y="530997"/>
            <a:ext cx="11179277" cy="3046988"/>
          </a:xfrm>
          <a:prstGeom prst="rect">
            <a:avLst/>
          </a:prstGeom>
          <a:noFill/>
        </p:spPr>
        <p:txBody>
          <a:bodyPr wrap="square">
            <a:spAutoFit/>
          </a:bodyPr>
          <a:lstStyle/>
          <a:p>
            <a:r>
              <a:rPr lang="en-IN" sz="2400" b="1" dirty="0">
                <a:solidFill>
                  <a:srgbClr val="C00000"/>
                </a:solidFill>
                <a:latin typeface="Times New Roman" panose="02020603050405020304" pitchFamily="18" charset="0"/>
                <a:cs typeface="Times New Roman" panose="02020603050405020304" pitchFamily="18" charset="0"/>
              </a:rPr>
              <a:t>Case 3: </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An administrator logs into the main corporate database server on a Monday morning and finds that they cannot open any system files. Every document, spreadsheet, and backup file has had its file extension changed to </a:t>
            </a:r>
            <a:r>
              <a:rPr lang="en-IN" sz="2400" b="0" u="none" strike="noStrike" dirty="0">
                <a:effectLst/>
                <a:latin typeface="Times New Roman" panose="02020603050405020304" pitchFamily="18" charset="0"/>
                <a:cs typeface="Times New Roman" panose="02020603050405020304" pitchFamily="18" charset="0"/>
              </a:rPr>
              <a:t>.locked</a:t>
            </a:r>
            <a:r>
              <a:rPr lang="en-IN" sz="2400" dirty="0">
                <a:latin typeface="Times New Roman" panose="02020603050405020304" pitchFamily="18" charset="0"/>
                <a:cs typeface="Times New Roman" panose="02020603050405020304" pitchFamily="18" charset="0"/>
              </a:rPr>
              <a:t>. When they try to open a file, a text document pops up on the screen reading: </a:t>
            </a:r>
            <a:r>
              <a:rPr lang="en-IN" sz="2400" b="0" i="1" u="none" strike="noStrike" dirty="0">
                <a:effectLst/>
                <a:latin typeface="Times New Roman" panose="02020603050405020304" pitchFamily="18" charset="0"/>
                <a:cs typeface="Times New Roman" panose="02020603050405020304" pitchFamily="18" charset="0"/>
              </a:rPr>
              <a:t>"Your network has been encrypted. To receive the decryption key, you must send 2 Bitcoin to the following wallet address within 48 hours, or your files will be permanently deleted."</a:t>
            </a:r>
            <a:endParaRPr lang="en-IN" sz="2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4578F60-7DFA-6283-1E5D-994C578E741A}"/>
              </a:ext>
            </a:extLst>
          </p:cNvPr>
          <p:cNvSpPr txBox="1"/>
          <p:nvPr/>
        </p:nvSpPr>
        <p:spPr>
          <a:xfrm>
            <a:off x="491612" y="3872269"/>
            <a:ext cx="6096000" cy="2677656"/>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Name of the attack: </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Type of Attack: </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Attack On: </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Prevent: </a:t>
            </a:r>
          </a:p>
        </p:txBody>
      </p:sp>
    </p:spTree>
    <p:extLst>
      <p:ext uri="{BB962C8B-B14F-4D97-AF65-F5344CB8AC3E}">
        <p14:creationId xmlns:p14="http://schemas.microsoft.com/office/powerpoint/2010/main" val="526086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7EF617-68FF-A7BB-B8D1-C314B80E41C0}"/>
              </a:ext>
            </a:extLst>
          </p:cNvPr>
          <p:cNvSpPr txBox="1"/>
          <p:nvPr/>
        </p:nvSpPr>
        <p:spPr>
          <a:xfrm>
            <a:off x="599768" y="408319"/>
            <a:ext cx="10255046" cy="3416320"/>
          </a:xfrm>
          <a:prstGeom prst="rect">
            <a:avLst/>
          </a:prstGeom>
          <a:noFill/>
        </p:spPr>
        <p:txBody>
          <a:bodyPr wrap="square">
            <a:spAutoFit/>
          </a:bodyPr>
          <a:lstStyle/>
          <a:p>
            <a:r>
              <a:rPr lang="en-IN" sz="2400" b="1" dirty="0">
                <a:solidFill>
                  <a:srgbClr val="C00000"/>
                </a:solidFill>
                <a:latin typeface="Times New Roman" panose="02020603050405020304" pitchFamily="18" charset="0"/>
                <a:cs typeface="Times New Roman" panose="02020603050405020304" pitchFamily="18" charset="0"/>
              </a:rPr>
              <a:t>Case 4: </a:t>
            </a:r>
          </a:p>
          <a:p>
            <a:endParaRPr lang="en-IN" sz="2400" b="1"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A security team is conducting an audit and realizes that a malicious actor spent three weeks inside their network infrastructure without triggering any alerts. The attacker did not change any passwords, delete any accounts, or modify any files. Instead, network logs show they deployed a tool that quietly copied and observed data packets flowing across the local network segment, allowing them to map out the company's internal server topology and read unencrypted HR communications.</a:t>
            </a:r>
          </a:p>
        </p:txBody>
      </p:sp>
      <p:sp>
        <p:nvSpPr>
          <p:cNvPr id="5" name="TextBox 4">
            <a:extLst>
              <a:ext uri="{FF2B5EF4-FFF2-40B4-BE49-F238E27FC236}">
                <a16:creationId xmlns:a16="http://schemas.microsoft.com/office/drawing/2014/main" id="{2EEAC718-A93A-AE73-8252-882BC6D6047F}"/>
              </a:ext>
            </a:extLst>
          </p:cNvPr>
          <p:cNvSpPr txBox="1"/>
          <p:nvPr/>
        </p:nvSpPr>
        <p:spPr>
          <a:xfrm>
            <a:off x="599768" y="4019753"/>
            <a:ext cx="6096000" cy="2677656"/>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Name of the attack: </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Type of Attack: </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Attack On: </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Prevent: </a:t>
            </a:r>
          </a:p>
        </p:txBody>
      </p:sp>
    </p:spTree>
    <p:extLst>
      <p:ext uri="{BB962C8B-B14F-4D97-AF65-F5344CB8AC3E}">
        <p14:creationId xmlns:p14="http://schemas.microsoft.com/office/powerpoint/2010/main" val="4303165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BEE154E-CF90-6D62-3767-E3199D0B0F76}"/>
              </a:ext>
            </a:extLst>
          </p:cNvPr>
          <p:cNvSpPr txBox="1"/>
          <p:nvPr/>
        </p:nvSpPr>
        <p:spPr>
          <a:xfrm>
            <a:off x="560440" y="482039"/>
            <a:ext cx="10530348" cy="2946961"/>
          </a:xfrm>
          <a:prstGeom prst="rect">
            <a:avLst/>
          </a:prstGeom>
          <a:noFill/>
        </p:spPr>
        <p:txBody>
          <a:bodyPr wrap="square">
            <a:spAutoFit/>
          </a:bodyPr>
          <a:lstStyle/>
          <a:p>
            <a:pPr marL="0" marR="0">
              <a:spcBef>
                <a:spcPts val="900"/>
              </a:spcBef>
              <a:spcAft>
                <a:spcPts val="1200"/>
              </a:spcAft>
              <a:buNone/>
            </a:pPr>
            <a:r>
              <a:rPr lang="en-IN" sz="2400" b="1" u="none" strike="noStrike" dirty="0">
                <a:solidFill>
                  <a:srgbClr val="C00000"/>
                </a:solidFill>
                <a:effectLst/>
                <a:latin typeface="Times New Roman" panose="02020603050405020304" pitchFamily="18" charset="0"/>
                <a:cs typeface="Times New Roman" panose="02020603050405020304" pitchFamily="18" charset="0"/>
              </a:rPr>
              <a:t>Case 5: </a:t>
            </a:r>
          </a:p>
          <a:p>
            <a:pPr marL="0" marR="0">
              <a:spcBef>
                <a:spcPts val="900"/>
              </a:spcBef>
              <a:spcAft>
                <a:spcPts val="1200"/>
              </a:spcAft>
              <a:buNone/>
            </a:pPr>
            <a:r>
              <a:rPr lang="en-IN" sz="2400" b="0" u="none" strike="noStrike" dirty="0">
                <a:effectLst/>
                <a:latin typeface="Times New Roman" panose="02020603050405020304" pitchFamily="18" charset="0"/>
                <a:cs typeface="Times New Roman" panose="02020603050405020304" pitchFamily="18" charset="0"/>
              </a:rPr>
              <a:t>A delivery driver arrives at a secure corporate facility holding a large, heavy box that blocks their view. As an employee swipes their electronic badge and opens the security door, the delivery driver moves quickly behind them, politely calling out, "Can you hold the door for me? My hands are full!" The employee, wanting to be helpful, holds the door open, allowing the driver to walk directly into the private corporate offices without scanning a badge or signing in at the front desk.</a:t>
            </a:r>
          </a:p>
        </p:txBody>
      </p:sp>
      <p:sp>
        <p:nvSpPr>
          <p:cNvPr id="5" name="TextBox 4">
            <a:extLst>
              <a:ext uri="{FF2B5EF4-FFF2-40B4-BE49-F238E27FC236}">
                <a16:creationId xmlns:a16="http://schemas.microsoft.com/office/drawing/2014/main" id="{CD4F785B-9446-3B00-6D3B-AEB3E46D8681}"/>
              </a:ext>
            </a:extLst>
          </p:cNvPr>
          <p:cNvSpPr txBox="1"/>
          <p:nvPr/>
        </p:nvSpPr>
        <p:spPr>
          <a:xfrm>
            <a:off x="766917" y="3744449"/>
            <a:ext cx="6096000" cy="2677656"/>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Name of the attack: </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Type of Attack: </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Attack On: </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Prevent: </a:t>
            </a:r>
          </a:p>
        </p:txBody>
      </p:sp>
    </p:spTree>
    <p:extLst>
      <p:ext uri="{BB962C8B-B14F-4D97-AF65-F5344CB8AC3E}">
        <p14:creationId xmlns:p14="http://schemas.microsoft.com/office/powerpoint/2010/main" val="16898739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9748F2A-6AEF-3580-D385-221D196CD74B}"/>
              </a:ext>
            </a:extLst>
          </p:cNvPr>
          <p:cNvSpPr txBox="1"/>
          <p:nvPr/>
        </p:nvSpPr>
        <p:spPr>
          <a:xfrm>
            <a:off x="757084" y="566483"/>
            <a:ext cx="10382864" cy="3046988"/>
          </a:xfrm>
          <a:prstGeom prst="rect">
            <a:avLst/>
          </a:prstGeom>
          <a:noFill/>
        </p:spPr>
        <p:txBody>
          <a:bodyPr wrap="square">
            <a:spAutoFit/>
          </a:bodyPr>
          <a:lstStyle/>
          <a:p>
            <a:r>
              <a:rPr lang="en-IN" sz="2400" b="1" u="none" strike="noStrike" dirty="0">
                <a:solidFill>
                  <a:srgbClr val="C00000"/>
                </a:solidFill>
                <a:effectLst/>
                <a:latin typeface="Times New Roman" panose="02020603050405020304" pitchFamily="18" charset="0"/>
                <a:cs typeface="Times New Roman" panose="02020603050405020304" pitchFamily="18" charset="0"/>
              </a:rPr>
              <a:t>Case 6: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While sitting in a crowded local coffee shop, a customer opens their laptop to log into their personal online banking portal. A person sitting at the table directly behind them pretends to look at their phone but positions themselves to clearly watch the customer's hands. By carefully tracking the customer's finger movements across the keyboard, the observer records the exact 12-character alphanumeric password and PIN as it is being typed.</a:t>
            </a:r>
            <a:endParaRPr lang="en-IN" sz="2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35FA2C8-AB6D-52F9-63D3-EF64B3B84443}"/>
              </a:ext>
            </a:extLst>
          </p:cNvPr>
          <p:cNvSpPr txBox="1"/>
          <p:nvPr/>
        </p:nvSpPr>
        <p:spPr>
          <a:xfrm>
            <a:off x="884903" y="3832940"/>
            <a:ext cx="6096000" cy="2677656"/>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Name of the attack: </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Type of Attack: </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Attack On: </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Prevent: </a:t>
            </a:r>
          </a:p>
        </p:txBody>
      </p:sp>
    </p:spTree>
    <p:extLst>
      <p:ext uri="{BB962C8B-B14F-4D97-AF65-F5344CB8AC3E}">
        <p14:creationId xmlns:p14="http://schemas.microsoft.com/office/powerpoint/2010/main" val="2864497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45211E5-D8E8-CDDA-84F3-27227190B6F3}"/>
              </a:ext>
            </a:extLst>
          </p:cNvPr>
          <p:cNvSpPr txBox="1"/>
          <p:nvPr/>
        </p:nvSpPr>
        <p:spPr>
          <a:xfrm>
            <a:off x="678426" y="560042"/>
            <a:ext cx="10589342" cy="2946961"/>
          </a:xfrm>
          <a:prstGeom prst="rect">
            <a:avLst/>
          </a:prstGeom>
          <a:noFill/>
        </p:spPr>
        <p:txBody>
          <a:bodyPr wrap="square">
            <a:spAutoFit/>
          </a:bodyPr>
          <a:lstStyle/>
          <a:p>
            <a:pPr>
              <a:spcBef>
                <a:spcPts val="900"/>
              </a:spcBef>
              <a:spcAft>
                <a:spcPts val="1200"/>
              </a:spcAft>
            </a:pPr>
            <a:r>
              <a:rPr lang="en-IN" sz="2400" b="1" u="none" strike="noStrike" dirty="0">
                <a:solidFill>
                  <a:srgbClr val="C00000"/>
                </a:solidFill>
                <a:effectLst/>
                <a:latin typeface="Times New Roman" panose="02020603050405020304" pitchFamily="18" charset="0"/>
                <a:cs typeface="Times New Roman" panose="02020603050405020304" pitchFamily="18" charset="0"/>
              </a:rPr>
              <a:t>Case 7: </a:t>
            </a:r>
          </a:p>
          <a:p>
            <a:pPr marL="0" marR="0">
              <a:spcBef>
                <a:spcPts val="900"/>
              </a:spcBef>
              <a:spcAft>
                <a:spcPts val="1200"/>
              </a:spcAft>
              <a:buNone/>
            </a:pPr>
            <a:r>
              <a:rPr lang="en-IN" sz="2400" b="0" u="none" strike="noStrike" dirty="0">
                <a:effectLst/>
                <a:latin typeface="Times New Roman" panose="02020603050405020304" pitchFamily="18" charset="0"/>
                <a:cs typeface="Times New Roman" panose="02020603050405020304" pitchFamily="18" charset="0"/>
              </a:rPr>
              <a:t>An e-commerce website has a search bar that allows customers to look up products. A malicious actor types a specialized string of characters into the search bar: ' OR 1=1; --. Instead of searching for a product, this input tricks the backend database into bypassing the authentication logic. As a result, the website accidentally displays a hidden table containing the names, email addresses, and home addresses of every registered user on the platform.</a:t>
            </a:r>
          </a:p>
        </p:txBody>
      </p:sp>
      <p:sp>
        <p:nvSpPr>
          <p:cNvPr id="5" name="TextBox 4">
            <a:extLst>
              <a:ext uri="{FF2B5EF4-FFF2-40B4-BE49-F238E27FC236}">
                <a16:creationId xmlns:a16="http://schemas.microsoft.com/office/drawing/2014/main" id="{24995352-BAA2-5F51-A396-8D7CEC2EA669}"/>
              </a:ext>
            </a:extLst>
          </p:cNvPr>
          <p:cNvSpPr txBox="1"/>
          <p:nvPr/>
        </p:nvSpPr>
        <p:spPr>
          <a:xfrm>
            <a:off x="835742" y="3764114"/>
            <a:ext cx="6096000" cy="2677656"/>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Name of the attack: </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Type of Attack: </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Attack On: </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Prevent: </a:t>
            </a:r>
          </a:p>
        </p:txBody>
      </p:sp>
    </p:spTree>
    <p:extLst>
      <p:ext uri="{BB962C8B-B14F-4D97-AF65-F5344CB8AC3E}">
        <p14:creationId xmlns:p14="http://schemas.microsoft.com/office/powerpoint/2010/main" val="24418226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BC467A9-0B44-083F-E7F7-506A7B38EFC5}"/>
              </a:ext>
            </a:extLst>
          </p:cNvPr>
          <p:cNvSpPr txBox="1"/>
          <p:nvPr/>
        </p:nvSpPr>
        <p:spPr>
          <a:xfrm>
            <a:off x="570270" y="595980"/>
            <a:ext cx="10255045" cy="2308324"/>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On 21 October 2026, SBI reported a data incident involving 3,897 customer records containing personal information found on the dark web. Reported fields included names, mobile numbers, dates of birth, addresses, and loan-related information. SBI appointed an independent cybersecurity agency to investigate and said it expected no material impact on core business operations. The entry method remained under investigation,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88024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3876F2-2D77-6C87-40AC-8327EEB0A0BA}"/>
              </a:ext>
            </a:extLst>
          </p:cNvPr>
          <p:cNvSpPr txBox="1"/>
          <p:nvPr/>
        </p:nvSpPr>
        <p:spPr>
          <a:xfrm>
            <a:off x="540774" y="422787"/>
            <a:ext cx="11110452" cy="5078313"/>
          </a:xfrm>
          <a:prstGeom prst="rect">
            <a:avLst/>
          </a:prstGeom>
          <a:noFill/>
        </p:spPr>
        <p:txBody>
          <a:bodyPr wrap="square" rtlCol="0">
            <a:spAutoFit/>
          </a:bodyPr>
          <a:lstStyle/>
          <a:p>
            <a:pPr algn="just"/>
            <a:r>
              <a:rPr lang="en-IN" b="1" dirty="0">
                <a:solidFill>
                  <a:srgbClr val="C00000"/>
                </a:solidFill>
                <a:latin typeface="Times New Roman" panose="02020603050405020304" pitchFamily="18" charset="0"/>
                <a:cs typeface="Times New Roman" panose="02020603050405020304" pitchFamily="18" charset="0"/>
              </a:rPr>
              <a:t>Case 8: </a:t>
            </a:r>
          </a:p>
          <a:p>
            <a:pPr algn="just"/>
            <a:endParaRPr lang="en-US" dirty="0"/>
          </a:p>
          <a:p>
            <a:pPr algn="just"/>
            <a:r>
              <a:rPr lang="en-US" dirty="0"/>
              <a:t>An attack on SITA, Air India’s passenger service system provider, exposed passenger information. Air India reported that approximately 45 lakh people were affected. The information included names, contact details, passport information, and ticket information.</a:t>
            </a:r>
          </a:p>
          <a:p>
            <a:pPr algn="just"/>
            <a:endParaRPr lang="en-US" dirty="0"/>
          </a:p>
          <a:p>
            <a:pPr algn="just"/>
            <a:r>
              <a:rPr lang="en-IN" b="1" dirty="0"/>
              <a:t>SITA</a:t>
            </a:r>
            <a:r>
              <a:rPr lang="en-IN" dirty="0"/>
              <a:t> stands for </a:t>
            </a:r>
            <a:r>
              <a:rPr lang="en-IN" b="1" dirty="0"/>
              <a:t>Société Internationale de </a:t>
            </a:r>
            <a:r>
              <a:rPr lang="en-IN" b="1" dirty="0" err="1"/>
              <a:t>Télécommunications</a:t>
            </a:r>
            <a:r>
              <a:rPr lang="en-IN" b="1" dirty="0"/>
              <a:t> </a:t>
            </a:r>
            <a:r>
              <a:rPr lang="en-IN" b="1" dirty="0" err="1"/>
              <a:t>Aéronautiques</a:t>
            </a:r>
            <a:r>
              <a:rPr lang="en-IN" dirty="0"/>
              <a:t>. It is an international company that provides </a:t>
            </a:r>
            <a:r>
              <a:rPr lang="en-IN" b="1" dirty="0"/>
              <a:t>information technology and communication services to the air transport industry</a:t>
            </a:r>
            <a:r>
              <a:rPr lang="en-IN" dirty="0"/>
              <a:t>.</a:t>
            </a:r>
          </a:p>
          <a:p>
            <a:pPr algn="just"/>
            <a:r>
              <a:rPr lang="en-IN" dirty="0"/>
              <a:t>Airlines and airports use SITA’s systems for services such as passenger processing, reservations, check-in, and baggage management.</a:t>
            </a:r>
          </a:p>
          <a:p>
            <a:endParaRPr lang="en-US" dirty="0"/>
          </a:p>
          <a:p>
            <a:endParaRPr lang="en-US" dirty="0"/>
          </a:p>
          <a:p>
            <a:r>
              <a:rPr lang="en-US" dirty="0"/>
              <a:t>Data Breach </a:t>
            </a:r>
          </a:p>
          <a:p>
            <a:endParaRPr lang="en-US" dirty="0"/>
          </a:p>
          <a:p>
            <a:r>
              <a:rPr lang="en-US" b="1" dirty="0"/>
              <a:t>Attack on: </a:t>
            </a:r>
            <a:r>
              <a:rPr lang="en-US" dirty="0"/>
              <a:t>confidentiality</a:t>
            </a:r>
          </a:p>
          <a:p>
            <a:endParaRPr lang="en-US" dirty="0"/>
          </a:p>
          <a:p>
            <a:r>
              <a:rPr lang="en-US" b="1" dirty="0"/>
              <a:t>Preventive measure:  </a:t>
            </a:r>
            <a:r>
              <a:rPr lang="en-IN" dirty="0"/>
              <a:t>Data encryption</a:t>
            </a:r>
            <a:endParaRPr lang="en-US" dirty="0"/>
          </a:p>
          <a:p>
            <a:endParaRPr lang="en-IN" dirty="0"/>
          </a:p>
        </p:txBody>
      </p:sp>
    </p:spTree>
    <p:extLst>
      <p:ext uri="{BB962C8B-B14F-4D97-AF65-F5344CB8AC3E}">
        <p14:creationId xmlns:p14="http://schemas.microsoft.com/office/powerpoint/2010/main" val="39005819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FB8314-5B15-E916-001D-E0347B5865DB}"/>
              </a:ext>
            </a:extLst>
          </p:cNvPr>
          <p:cNvSpPr txBox="1"/>
          <p:nvPr/>
        </p:nvSpPr>
        <p:spPr>
          <a:xfrm>
            <a:off x="639097" y="442055"/>
            <a:ext cx="9851922" cy="3316292"/>
          </a:xfrm>
          <a:prstGeom prst="rect">
            <a:avLst/>
          </a:prstGeom>
          <a:noFill/>
        </p:spPr>
        <p:txBody>
          <a:bodyPr wrap="square">
            <a:spAutoFit/>
          </a:bodyPr>
          <a:lstStyle/>
          <a:p>
            <a:pPr marL="0" marR="0">
              <a:spcBef>
                <a:spcPts val="900"/>
              </a:spcBef>
              <a:spcAft>
                <a:spcPts val="1200"/>
              </a:spcAft>
              <a:buNone/>
            </a:pPr>
            <a:r>
              <a:rPr lang="en-IN" sz="2400" b="1" u="none" strike="noStrike" dirty="0">
                <a:solidFill>
                  <a:srgbClr val="C00000"/>
                </a:solidFill>
                <a:effectLst/>
                <a:latin typeface="Times New Roman" panose="02020603050405020304" pitchFamily="18" charset="0"/>
                <a:cs typeface="Times New Roman" panose="02020603050405020304" pitchFamily="18" charset="0"/>
              </a:rPr>
              <a:t>Case 9: </a:t>
            </a:r>
          </a:p>
          <a:p>
            <a:pPr marL="0" marR="0">
              <a:spcBef>
                <a:spcPts val="900"/>
              </a:spcBef>
              <a:spcAft>
                <a:spcPts val="1200"/>
              </a:spcAft>
              <a:buNone/>
            </a:pPr>
            <a:r>
              <a:rPr lang="en-IN" sz="2400" b="0" u="none" strike="noStrike" dirty="0">
                <a:effectLst/>
                <a:latin typeface="Times New Roman" panose="02020603050405020304" pitchFamily="18" charset="0"/>
                <a:cs typeface="Times New Roman" panose="02020603050405020304" pitchFamily="18" charset="0"/>
              </a:rPr>
              <a:t>A user logs into their online healthcare portal to view their medical test results. Once logged in, they notice that the web browser's URL address bar displays https://healthportal.com. Out of curiosity, the user changes the number at the very end of the URL from 88432 to 88431 and presses Enter. Without asking for any additional password or verification, the website immediately loads and displays the full medical history, full name, and private health records of a completely different patient.</a:t>
            </a:r>
          </a:p>
        </p:txBody>
      </p:sp>
      <p:sp>
        <p:nvSpPr>
          <p:cNvPr id="5" name="TextBox 4">
            <a:extLst>
              <a:ext uri="{FF2B5EF4-FFF2-40B4-BE49-F238E27FC236}">
                <a16:creationId xmlns:a16="http://schemas.microsoft.com/office/drawing/2014/main" id="{9256BCFD-292D-2FC0-35D2-2C593326FBD1}"/>
              </a:ext>
            </a:extLst>
          </p:cNvPr>
          <p:cNvSpPr txBox="1"/>
          <p:nvPr/>
        </p:nvSpPr>
        <p:spPr>
          <a:xfrm>
            <a:off x="727587" y="4062869"/>
            <a:ext cx="6096000" cy="369332"/>
          </a:xfrm>
          <a:prstGeom prst="rect">
            <a:avLst/>
          </a:prstGeom>
          <a:noFill/>
        </p:spPr>
        <p:txBody>
          <a:bodyPr wrap="square">
            <a:spAutoFit/>
          </a:bodyPr>
          <a:lstStyle/>
          <a:p>
            <a:r>
              <a:rPr lang="en-IN" dirty="0"/>
              <a:t>IDOR / Insecure Direct Object Reference</a:t>
            </a:r>
          </a:p>
        </p:txBody>
      </p:sp>
    </p:spTree>
    <p:extLst>
      <p:ext uri="{BB962C8B-B14F-4D97-AF65-F5344CB8AC3E}">
        <p14:creationId xmlns:p14="http://schemas.microsoft.com/office/powerpoint/2010/main" val="35550269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035701C-2136-9170-38AC-6D12F61BE711}"/>
              </a:ext>
            </a:extLst>
          </p:cNvPr>
          <p:cNvSpPr txBox="1"/>
          <p:nvPr/>
        </p:nvSpPr>
        <p:spPr>
          <a:xfrm>
            <a:off x="589934" y="517746"/>
            <a:ext cx="10776155" cy="4870564"/>
          </a:xfrm>
          <a:prstGeom prst="rect">
            <a:avLst/>
          </a:prstGeom>
          <a:noFill/>
        </p:spPr>
        <p:txBody>
          <a:bodyPr wrap="square">
            <a:spAutoFit/>
          </a:bodyPr>
          <a:lstStyle/>
          <a:p>
            <a:pPr marR="0" lvl="0">
              <a:spcAft>
                <a:spcPts val="900"/>
              </a:spcAft>
            </a:pPr>
            <a:r>
              <a:rPr lang="en-IN" sz="2400" b="1" u="none" strike="noStrike" dirty="0">
                <a:solidFill>
                  <a:srgbClr val="C00000"/>
                </a:solidFill>
                <a:effectLst/>
                <a:latin typeface="Times New Roman" panose="02020603050405020304" pitchFamily="18" charset="0"/>
                <a:cs typeface="Times New Roman" panose="02020603050405020304" pitchFamily="18" charset="0"/>
              </a:rPr>
              <a:t>Case 10:</a:t>
            </a:r>
          </a:p>
          <a:p>
            <a:pPr marL="342900" marR="0" lvl="0" indent="-342900">
              <a:spcAft>
                <a:spcPts val="900"/>
              </a:spcAft>
              <a:buFont typeface="Arial" panose="020B0604020202020204" pitchFamily="34" charset="0"/>
              <a:buChar char="•"/>
            </a:pPr>
            <a:r>
              <a:rPr lang="en-IN" sz="2400" b="0" u="none" strike="noStrike" dirty="0">
                <a:effectLst/>
                <a:latin typeface="Times New Roman" panose="02020603050405020304" pitchFamily="18" charset="0"/>
                <a:cs typeface="Times New Roman" panose="02020603050405020304" pitchFamily="18" charset="0"/>
              </a:rPr>
              <a:t>Roger </a:t>
            </a:r>
            <a:r>
              <a:rPr lang="en-IN" sz="2400" b="0" u="none" strike="noStrike" dirty="0" err="1">
                <a:effectLst/>
                <a:latin typeface="Times New Roman" panose="02020603050405020304" pitchFamily="18" charset="0"/>
                <a:cs typeface="Times New Roman" panose="02020603050405020304" pitchFamily="18" charset="0"/>
              </a:rPr>
              <a:t>Duronio</a:t>
            </a:r>
            <a:r>
              <a:rPr lang="en-IN" sz="2400" b="0" u="none" strike="noStrike" dirty="0">
                <a:effectLst/>
                <a:latin typeface="Times New Roman" panose="02020603050405020304" pitchFamily="18" charset="0"/>
                <a:cs typeface="Times New Roman" panose="02020603050405020304" pitchFamily="18" charset="0"/>
              </a:rPr>
              <a:t> was a senior systems administrator for the financial firm UBS PaineWebber. He had high-level administrative access to the company's entire network. </a:t>
            </a:r>
          </a:p>
          <a:p>
            <a:pPr marL="342900" marR="0" lvl="0" indent="-342900">
              <a:spcAft>
                <a:spcPts val="900"/>
              </a:spcAft>
              <a:buFont typeface="Arial" panose="020B0604020202020204" pitchFamily="34" charset="0"/>
              <a:buChar char="•"/>
            </a:pPr>
            <a:r>
              <a:rPr lang="en-IN" sz="2400" b="0" u="none" strike="noStrike" dirty="0" err="1">
                <a:effectLst/>
                <a:latin typeface="Times New Roman" panose="02020603050405020304" pitchFamily="18" charset="0"/>
                <a:cs typeface="Times New Roman" panose="02020603050405020304" pitchFamily="18" charset="0"/>
              </a:rPr>
              <a:t>Duronio</a:t>
            </a:r>
            <a:r>
              <a:rPr lang="en-IN" sz="2400" b="0" u="none" strike="noStrike" dirty="0">
                <a:effectLst/>
                <a:latin typeface="Times New Roman" panose="02020603050405020304" pitchFamily="18" charset="0"/>
                <a:cs typeface="Times New Roman" panose="02020603050405020304" pitchFamily="18" charset="0"/>
              </a:rPr>
              <a:t> was unhappy with a $32,000 bonus he received. Seeking revenge and financial gain, he devised a plan to short the company's stock. He spent over $21,000 buying "put options"—financial bets that the value of UBS stock would drop drastically. </a:t>
            </a:r>
          </a:p>
          <a:p>
            <a:pPr marL="342900" marR="0" lvl="0" indent="-342900">
              <a:spcAft>
                <a:spcPts val="900"/>
              </a:spcAft>
              <a:buFont typeface="Arial" panose="020B0604020202020204" pitchFamily="34" charset="0"/>
              <a:buChar char="•"/>
            </a:pPr>
            <a:r>
              <a:rPr lang="en-IN" sz="2400" b="1" u="none" strike="noStrike" dirty="0">
                <a:effectLst/>
                <a:latin typeface="Times New Roman" panose="02020603050405020304" pitchFamily="18" charset="0"/>
                <a:cs typeface="Times New Roman" panose="02020603050405020304" pitchFamily="18" charset="0"/>
              </a:rPr>
              <a:t>Setup:</a:t>
            </a:r>
            <a:r>
              <a:rPr lang="en-IN" sz="2400" b="0" u="none" strike="noStrike" dirty="0">
                <a:effectLst/>
                <a:latin typeface="Times New Roman" panose="02020603050405020304" pitchFamily="18" charset="0"/>
                <a:cs typeface="Times New Roman" panose="02020603050405020304" pitchFamily="18" charset="0"/>
              </a:rPr>
              <a:t> He planted a hidden piece of malicious code across the corporate network. The code was designed to lie completely dormant until a specific trigger condition was met: </a:t>
            </a:r>
            <a:r>
              <a:rPr lang="en-IN" sz="2400" b="1" u="none" strike="noStrike" dirty="0">
                <a:effectLst/>
                <a:latin typeface="Times New Roman" panose="02020603050405020304" pitchFamily="18" charset="0"/>
                <a:cs typeface="Times New Roman" panose="02020603050405020304" pitchFamily="18" charset="0"/>
              </a:rPr>
              <a:t>9:30 AM on March 4, 2002</a:t>
            </a:r>
            <a:r>
              <a:rPr lang="en-IN" sz="2400" b="0" u="none" strike="noStrike" dirty="0">
                <a:effectLst/>
                <a:latin typeface="Times New Roman" panose="02020603050405020304" pitchFamily="18" charset="0"/>
                <a:cs typeface="Times New Roman" panose="02020603050405020304" pitchFamily="18" charset="0"/>
              </a:rPr>
              <a:t>. He resigned from the company shortly before the trigger date. </a:t>
            </a:r>
          </a:p>
        </p:txBody>
      </p:sp>
    </p:spTree>
    <p:extLst>
      <p:ext uri="{BB962C8B-B14F-4D97-AF65-F5344CB8AC3E}">
        <p14:creationId xmlns:p14="http://schemas.microsoft.com/office/powerpoint/2010/main" val="1992444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A43BA2-48F0-EEEE-C2FA-A7C6BDEC0410}"/>
              </a:ext>
            </a:extLst>
          </p:cNvPr>
          <p:cNvSpPr txBox="1"/>
          <p:nvPr/>
        </p:nvSpPr>
        <p:spPr>
          <a:xfrm>
            <a:off x="639097" y="452284"/>
            <a:ext cx="10609006" cy="461665"/>
          </a:xfrm>
          <a:prstGeom prst="rect">
            <a:avLst/>
          </a:prstGeom>
          <a:noFill/>
        </p:spPr>
        <p:txBody>
          <a:bodyPr wrap="square" rtlCol="0">
            <a:spAutoFit/>
          </a:bodyPr>
          <a:lstStyle/>
          <a:p>
            <a:r>
              <a:rPr lang="en-US" sz="2400" b="1" dirty="0">
                <a:solidFill>
                  <a:srgbClr val="C00000"/>
                </a:solidFill>
                <a:latin typeface="Times New Roman" panose="02020603050405020304" pitchFamily="18" charset="0"/>
                <a:cs typeface="Times New Roman" panose="02020603050405020304" pitchFamily="18" charset="0"/>
              </a:rPr>
              <a:t>Components of a cryptosystem</a:t>
            </a:r>
            <a:endParaRPr lang="en-IN" sz="2400" b="1" dirty="0">
              <a:solidFill>
                <a:srgbClr val="C00000"/>
              </a:solidFill>
              <a:latin typeface="Times New Roman" panose="02020603050405020304" pitchFamily="18" charset="0"/>
              <a:cs typeface="Times New Roman" panose="02020603050405020304" pitchFamily="18" charset="0"/>
            </a:endParaRPr>
          </a:p>
        </p:txBody>
      </p:sp>
      <p:pic>
        <p:nvPicPr>
          <p:cNvPr id="3" name="Picture 2" descr="Cryptography Key. A cryptosystem is an implementation of… | by Ftomi |  Medium">
            <a:extLst>
              <a:ext uri="{FF2B5EF4-FFF2-40B4-BE49-F238E27FC236}">
                <a16:creationId xmlns:a16="http://schemas.microsoft.com/office/drawing/2014/main" id="{EBBE5AE0-2A65-4D8F-ADB4-669F927694BB}"/>
              </a:ext>
            </a:extLst>
          </p:cNvPr>
          <p:cNvPicPr>
            <a:picLocks noChangeAspect="1"/>
          </p:cNvPicPr>
          <p:nvPr/>
        </p:nvPicPr>
        <p:blipFill>
          <a:blip r:embed="rId2"/>
          <a:stretch>
            <a:fillRect/>
          </a:stretch>
        </p:blipFill>
        <p:spPr>
          <a:xfrm>
            <a:off x="1893643" y="1258528"/>
            <a:ext cx="8562029" cy="5147188"/>
          </a:xfrm>
          <a:prstGeom prst="rect">
            <a:avLst/>
          </a:prstGeom>
        </p:spPr>
      </p:pic>
    </p:spTree>
    <p:extLst>
      <p:ext uri="{BB962C8B-B14F-4D97-AF65-F5344CB8AC3E}">
        <p14:creationId xmlns:p14="http://schemas.microsoft.com/office/powerpoint/2010/main" val="19469380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TE PC v4.0 Chapter 1">
            <a:extLst>
              <a:ext uri="{FF2B5EF4-FFF2-40B4-BE49-F238E27FC236}">
                <a16:creationId xmlns:a16="http://schemas.microsoft.com/office/drawing/2014/main" id="{FACD4683-D9F0-243B-6353-444A1B2CD1C2}"/>
              </a:ext>
            </a:extLst>
          </p:cNvPr>
          <p:cNvPicPr>
            <a:picLocks noChangeAspect="1"/>
          </p:cNvPicPr>
          <p:nvPr/>
        </p:nvPicPr>
        <p:blipFill>
          <a:blip r:embed="rId2"/>
          <a:stretch>
            <a:fillRect/>
          </a:stretch>
        </p:blipFill>
        <p:spPr>
          <a:xfrm>
            <a:off x="3091176" y="1182287"/>
            <a:ext cx="6866740" cy="5126812"/>
          </a:xfrm>
          <a:prstGeom prst="rect">
            <a:avLst/>
          </a:prstGeom>
        </p:spPr>
      </p:pic>
      <p:sp>
        <p:nvSpPr>
          <p:cNvPr id="4" name="TextBox 3">
            <a:extLst>
              <a:ext uri="{FF2B5EF4-FFF2-40B4-BE49-F238E27FC236}">
                <a16:creationId xmlns:a16="http://schemas.microsoft.com/office/drawing/2014/main" id="{3E85E5DD-43FC-90A0-9591-7E5FF0E26130}"/>
              </a:ext>
            </a:extLst>
          </p:cNvPr>
          <p:cNvSpPr txBox="1"/>
          <p:nvPr/>
        </p:nvSpPr>
        <p:spPr>
          <a:xfrm>
            <a:off x="432079" y="411982"/>
            <a:ext cx="4752870" cy="461665"/>
          </a:xfrm>
          <a:prstGeom prst="rect">
            <a:avLst/>
          </a:prstGeom>
          <a:noFill/>
        </p:spPr>
        <p:txBody>
          <a:bodyPr wrap="square" rtlCol="0">
            <a:spAutoFit/>
          </a:bodyPr>
          <a:lstStyle/>
          <a:p>
            <a:r>
              <a:rPr lang="en-US" sz="2400" b="1" dirty="0" err="1">
                <a:solidFill>
                  <a:srgbClr val="C00000"/>
                </a:solidFill>
              </a:rPr>
              <a:t>Mccumber</a:t>
            </a:r>
            <a:r>
              <a:rPr lang="en-US" sz="2400" b="1" dirty="0">
                <a:solidFill>
                  <a:srgbClr val="C00000"/>
                </a:solidFill>
              </a:rPr>
              <a:t> Cube Model</a:t>
            </a:r>
            <a:endParaRPr lang="en-IN" sz="2400" b="1" dirty="0">
              <a:solidFill>
                <a:srgbClr val="C00000"/>
              </a:solidFill>
            </a:endParaRPr>
          </a:p>
        </p:txBody>
      </p:sp>
    </p:spTree>
    <p:extLst>
      <p:ext uri="{BB962C8B-B14F-4D97-AF65-F5344CB8AC3E}">
        <p14:creationId xmlns:p14="http://schemas.microsoft.com/office/powerpoint/2010/main" val="33390616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2895705-BA6E-72D7-7DF6-D8F22424AB6B}"/>
              </a:ext>
            </a:extLst>
          </p:cNvPr>
          <p:cNvSpPr txBox="1"/>
          <p:nvPr/>
        </p:nvSpPr>
        <p:spPr>
          <a:xfrm>
            <a:off x="442452" y="349833"/>
            <a:ext cx="10599174" cy="6001643"/>
          </a:xfrm>
          <a:prstGeom prst="rect">
            <a:avLst/>
          </a:prstGeom>
          <a:noFill/>
        </p:spPr>
        <p:txBody>
          <a:bodyPr wrap="square">
            <a:spAutoFit/>
          </a:bodyPr>
          <a:lstStyle/>
          <a:p>
            <a:r>
              <a:rPr lang="en-US" sz="2400" b="1" dirty="0">
                <a:solidFill>
                  <a:srgbClr val="C00000"/>
                </a:solidFill>
                <a:latin typeface="Times New Roman" panose="02020603050405020304" pitchFamily="18" charset="0"/>
                <a:cs typeface="Times New Roman" panose="02020603050405020304" pitchFamily="18" charset="0"/>
              </a:rPr>
              <a:t>Policy</a:t>
            </a:r>
          </a:p>
          <a:p>
            <a:r>
              <a:rPr lang="en-US" sz="2400" dirty="0">
                <a:latin typeface="Times New Roman" panose="02020603050405020304" pitchFamily="18" charset="0"/>
                <a:cs typeface="Times New Roman" panose="02020603050405020304" pitchFamily="18" charset="0"/>
              </a:rPr>
              <a:t>In 2006–2007, media investigations found sensitive customer and employee information in publicly accessible rubbish containers used by CVS pharmacies. Discarded materials included prescription labels, medical information, employment applications, and financial information. People could read the information because the materials had not been securely destroyed.</a:t>
            </a:r>
          </a:p>
          <a:p>
            <a:endParaRPr lang="en-US" sz="2400" dirty="0">
              <a:latin typeface="Times New Roman" panose="02020603050405020304" pitchFamily="18" charset="0"/>
              <a:cs typeface="Times New Roman" panose="02020603050405020304" pitchFamily="18" charset="0"/>
            </a:endParaRPr>
          </a:p>
          <a:p>
            <a:r>
              <a:rPr lang="en-US" sz="2400" b="1" dirty="0">
                <a:solidFill>
                  <a:srgbClr val="C00000"/>
                </a:solidFill>
                <a:latin typeface="Times New Roman" panose="02020603050405020304" pitchFamily="18" charset="0"/>
                <a:cs typeface="Times New Roman" panose="02020603050405020304" pitchFamily="18" charset="0"/>
              </a:rPr>
              <a:t>What went wrong with policy?</a:t>
            </a:r>
          </a:p>
          <a:p>
            <a:r>
              <a:rPr lang="en-US" sz="2400" dirty="0">
                <a:latin typeface="Times New Roman" panose="02020603050405020304" pitchFamily="18" charset="0"/>
                <a:cs typeface="Times New Roman" panose="02020603050405020304" pitchFamily="18" charset="0"/>
              </a:rPr>
              <a:t>The FTC alleged that CVS lacked adequate secure disposal procedures, employee training, and checks to ensure staff followed disposal requirements. In 2009, CVS agreed to corrective measures and a separate US$2.25 million settlement with HHS. Federal Trade Commission</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 pharmacy protects patient information while using it, but throws prescription records into an ordinary rubbish bin. Someone retrieves the papers and reads private details. Information security must continue until the records are securely destroyed.”</a:t>
            </a:r>
          </a:p>
        </p:txBody>
      </p:sp>
    </p:spTree>
    <p:extLst>
      <p:ext uri="{BB962C8B-B14F-4D97-AF65-F5344CB8AC3E}">
        <p14:creationId xmlns:p14="http://schemas.microsoft.com/office/powerpoint/2010/main" val="41149756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301</TotalTime>
  <Words>1388</Words>
  <Application>Microsoft Office PowerPoint</Application>
  <PresentationFormat>Widescreen</PresentationFormat>
  <Paragraphs>130</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Aptos Display</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Keerthana S [MAHE-MSIS]</dc:creator>
  <cp:lastModifiedBy>Keerthana S [MAHE-MSIS]</cp:lastModifiedBy>
  <cp:revision>4</cp:revision>
  <dcterms:created xsi:type="dcterms:W3CDTF">2026-10-28T05:42:59Z</dcterms:created>
  <dcterms:modified xsi:type="dcterms:W3CDTF">2026-10-28T12:41:13Z</dcterms:modified>
</cp:coreProperties>
</file>